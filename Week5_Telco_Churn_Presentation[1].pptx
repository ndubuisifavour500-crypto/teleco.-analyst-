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"/>
          <c:y val="5.0996989814852983E-2"/>
          <c:w val="0.87477231329690341"/>
          <c:h val="0.6438451197888747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explosion val="10"/>
            <c:spPr>
              <a:solidFill>
                <a:srgbClr val="1B7F79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Not Churned (73.5%)</c:v>
                </c:pt>
                <c:pt idx="1">
                  <c:v>Churned (26.5%)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73.5</c:v>
                </c:pt>
                <c:pt idx="1">
                  <c:v>26.5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4F8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By Contract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Two year</c:v>
                </c:pt>
                <c:pt idx="1">
                  <c:v>One year</c:v>
                </c:pt>
                <c:pt idx="2">
                  <c:v>Month-to-month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</c:v>
                </c:pt>
                <c:pt idx="1">
                  <c:v>11.3</c:v>
                </c:pt>
                <c:pt idx="2">
                  <c:v>42.7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38574608"/>
        <c:axId val="18626616"/>
      </c:barChart>
      <c:catAx>
        <c:axId val="2385746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18626616"/>
        <c:crosses val="autoZero"/>
        <c:auto val="1"/>
        <c:lblAlgn val="ctr"/>
        <c:lblOffset val="100"/>
        <c:noMultiLvlLbl val="1"/>
      </c:catAx>
      <c:valAx>
        <c:axId val="18626616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38574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By Tenure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49-72 months</c:v>
                </c:pt>
                <c:pt idx="1">
                  <c:v>25-48 months</c:v>
                </c:pt>
                <c:pt idx="2">
                  <c:v>13-24 months</c:v>
                </c:pt>
                <c:pt idx="3">
                  <c:v>0-12 months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9.5</c:v>
                </c:pt>
                <c:pt idx="1">
                  <c:v>20.399999999999999</c:v>
                </c:pt>
                <c:pt idx="2">
                  <c:v>28.7</c:v>
                </c:pt>
                <c:pt idx="3">
                  <c:v>47.4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38351704"/>
        <c:axId val="18676832"/>
      </c:barChart>
      <c:catAx>
        <c:axId val="2383517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18676832"/>
        <c:crosses val="autoZero"/>
        <c:auto val="1"/>
        <c:lblAlgn val="ctr"/>
        <c:lblOffset val="100"/>
        <c:noMultiLvlLbl val="1"/>
      </c:catAx>
      <c:valAx>
        <c:axId val="1867683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38351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By Internet Service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internet</c:v>
                </c:pt>
                <c:pt idx="1">
                  <c:v>DSL</c:v>
                </c:pt>
                <c:pt idx="2">
                  <c:v>Fiber optic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7.4</c:v>
                </c:pt>
                <c:pt idx="1">
                  <c:v>19</c:v>
                </c:pt>
                <c:pt idx="2">
                  <c:v>41.9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677224"/>
        <c:axId val="18676048"/>
      </c:barChart>
      <c:catAx>
        <c:axId val="18677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18676048"/>
        <c:crosses val="autoZero"/>
        <c:auto val="1"/>
        <c:lblAlgn val="ctr"/>
        <c:lblOffset val="100"/>
        <c:noMultiLvlLbl val="1"/>
      </c:catAx>
      <c:valAx>
        <c:axId val="1867604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8677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By Payment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Credit card (auto)</c:v>
                </c:pt>
                <c:pt idx="1">
                  <c:v>Bank transfer (auto)</c:v>
                </c:pt>
                <c:pt idx="2">
                  <c:v>Mailed check</c:v>
                </c:pt>
                <c:pt idx="3">
                  <c:v>Electronic check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15.2</c:v>
                </c:pt>
                <c:pt idx="1">
                  <c:v>16.7</c:v>
                </c:pt>
                <c:pt idx="2">
                  <c:v>19.100000000000001</c:v>
                </c:pt>
                <c:pt idx="3">
                  <c:v>45.3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8678008"/>
        <c:axId val="18676440"/>
      </c:barChart>
      <c:catAx>
        <c:axId val="18678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18676440"/>
        <c:crosses val="autoZero"/>
        <c:auto val="1"/>
        <c:lblAlgn val="ctr"/>
        <c:lblOffset val="100"/>
        <c:noMultiLvlLbl val="1"/>
      </c:catAx>
      <c:valAx>
        <c:axId val="1867644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8678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6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7/1/2026</a:t>
            </a:fld>
            <a:endParaRPr lang="en-US"/>
          </a:p>
        </p:txBody>
      </p:sp>
      <p:sp>
        <p:nvSpPr>
          <p:cNvPr id="104876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6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6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2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a full business analytics case study on Telco Customer Churn. We analyzed 7,043 customer records to understand why customers leave and what the business can do about it.</a:t>
            </a:r>
          </a:p>
        </p:txBody>
      </p:sp>
      <p:sp>
        <p:nvSpPr>
          <p:cNvPr id="10485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95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agenda covers five areas: problem statement, dataset overview, key findings, business insights, and finally our six recommendations.</a:t>
            </a:r>
          </a:p>
        </p:txBody>
      </p:sp>
      <p:sp>
        <p:nvSpPr>
          <p:cNvPr id="10486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45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business problem: this telecom company is experiencing a 26.5% churn rate. That means more than 1 in 4 customers leaves. Research shows retaining a customer costs far less than acquiring a new one, making this a critical business priority.</a:t>
            </a:r>
          </a:p>
        </p:txBody>
      </p:sp>
      <p:sp>
        <p:nvSpPr>
          <p:cNvPr id="10486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50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comes from Kaggle — IBM Telco Customer Churn. It has 7,043 rows and 21 columns covering demographics, services, account details, and billing. 26.5% of customers churned.</a:t>
            </a:r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biggest drivers of churn are: 1) Contract type — month-to-month customers churn at 42.7%, 2) Short tenure — new customers in their first year are most at risk, 3) Fiber optic internet — highest-paying segment also churns most, 4) Electronic check payment — signals low commitment.</a:t>
            </a:r>
          </a:p>
        </p:txBody>
      </p:sp>
      <p:sp>
        <p:nvSpPr>
          <p:cNvPr id="10486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63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chart: Month-to-month customers churn at 42.7% — 15x higher than two-year contract customers. Right chart: Churn drops dramatically with tenure. Customers who stay past 12 months are much more likely to stay long-term.</a:t>
            </a:r>
          </a:p>
        </p:txBody>
      </p:sp>
      <p:sp>
        <p:nvSpPr>
          <p:cNvPr id="10486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10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Fiber optic customers churn most despite paying the most — suggesting pricing or quality issues. Electronic check users churn at 45.3% vs 15-17% for auto-pay users — manual payment signals disengagement.</a:t>
            </a:r>
          </a:p>
        </p:txBody>
      </p:sp>
      <p:sp>
        <p:nvSpPr>
          <p:cNvPr id="10486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22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2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six recommendations address the four key drivers: 1 and 2 target contract type and tenure, 3 addresses fiber optic dissatisfaction, 4 reduces churn through service stickiness, 5 tackles payment method, and 6 addresses the senior citizen segment.</a:t>
            </a:r>
          </a:p>
        </p:txBody>
      </p:sp>
      <p:sp>
        <p:nvSpPr>
          <p:cNvPr id="10487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03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4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the data tells a clear story. Churn is concentrated among identifiable customer groups. By acting on these six recommendations, the business can move from reactive to proactive customer retention — protecting revenue and improving customer lifetime value.</a:t>
            </a:r>
          </a:p>
        </p:txBody>
      </p:sp>
      <p:sp>
        <p:nvSpPr>
          <p:cNvPr id="10487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25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listening. Questions are welcome.</a:t>
            </a:r>
          </a:p>
        </p:txBody>
      </p:sp>
      <p:sp>
        <p:nvSpPr>
          <p:cNvPr id="10487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42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B7F79">
              <a:alpha val="30000"/>
            </a:srgbClr>
          </a:solidFill>
          <a:ln w="12700">
            <a:solidFill>
              <a:srgbClr val="1B7F79">
                <a:alpha val="30000"/>
              </a:srgbClr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>
                <a:alpha val="25000"/>
              </a:srgbClr>
            </a:solidFill>
            <a:prstDash val="solid"/>
          </a:ln>
        </p:spPr>
      </p:sp>
      <p:sp>
        <p:nvSpPr>
          <p:cNvPr id="1048578" name="Text 2"/>
          <p:cNvSpPr/>
          <p:nvPr/>
        </p:nvSpPr>
        <p:spPr>
          <a:xfrm>
            <a:off x="548640" y="91440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ANALYTICS CASE STUDY</a:t>
            </a:r>
            <a:endParaRPr lang="en-US" sz="1300" dirty="0"/>
          </a:p>
        </p:txBody>
      </p:sp>
      <p:sp>
        <p:nvSpPr>
          <p:cNvPr id="1048579" name="Text 3"/>
          <p:cNvSpPr/>
          <p:nvPr/>
        </p:nvSpPr>
        <p:spPr>
          <a:xfrm>
            <a:off x="548640" y="1417320"/>
            <a:ext cx="73152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</a:t>
            </a:r>
            <a:endParaRPr lang="en-US" sz="4400" dirty="0"/>
          </a:p>
        </p:txBody>
      </p:sp>
      <p:sp>
        <p:nvSpPr>
          <p:cNvPr id="1048580" name="Text 4"/>
          <p:cNvSpPr/>
          <p:nvPr/>
        </p:nvSpPr>
        <p:spPr>
          <a:xfrm>
            <a:off x="548640" y="33375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customers leaving — and what can we do about it?</a:t>
            </a:r>
            <a:endParaRPr lang="en-US" sz="1500" dirty="0"/>
          </a:p>
        </p:txBody>
      </p:sp>
      <p:sp>
        <p:nvSpPr>
          <p:cNvPr id="1048581" name="Text 5"/>
          <p:cNvSpPr/>
          <p:nvPr/>
        </p:nvSpPr>
        <p:spPr>
          <a:xfrm>
            <a:off x="548640" y="406908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Ndubuisi Favour Adaku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Intern  |  AnalystLab Africa  |  Batch B  |  June 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1048586" name="Shape 1"/>
          <p:cNvSpPr/>
          <p:nvPr/>
        </p:nvSpPr>
        <p:spPr>
          <a:xfrm>
            <a:off x="365760" y="10058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D0EC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587" name="Text 2"/>
          <p:cNvSpPr/>
          <p:nvPr/>
        </p:nvSpPr>
        <p:spPr>
          <a:xfrm>
            <a:off x="502920" y="1115568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48588" name="Text 3"/>
          <p:cNvSpPr/>
          <p:nvPr/>
        </p:nvSpPr>
        <p:spPr>
          <a:xfrm>
            <a:off x="1051560" y="107899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1048589" name="Text 4"/>
          <p:cNvSpPr/>
          <p:nvPr/>
        </p:nvSpPr>
        <p:spPr>
          <a:xfrm>
            <a:off x="1051560" y="1481328"/>
            <a:ext cx="3291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customer churn matters and what we set out to solve</a:t>
            </a:r>
            <a:endParaRPr lang="en-US" sz="1100" dirty="0"/>
          </a:p>
        </p:txBody>
      </p:sp>
      <p:sp>
        <p:nvSpPr>
          <p:cNvPr id="1048590" name="Shape 5"/>
          <p:cNvSpPr/>
          <p:nvPr/>
        </p:nvSpPr>
        <p:spPr>
          <a:xfrm>
            <a:off x="365760" y="2267712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D0EC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591" name="Text 6"/>
          <p:cNvSpPr/>
          <p:nvPr/>
        </p:nvSpPr>
        <p:spPr>
          <a:xfrm>
            <a:off x="502920" y="23774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48592" name="Text 7"/>
          <p:cNvSpPr/>
          <p:nvPr/>
        </p:nvSpPr>
        <p:spPr>
          <a:xfrm>
            <a:off x="1051560" y="234086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048593" name="Text 8"/>
          <p:cNvSpPr/>
          <p:nvPr/>
        </p:nvSpPr>
        <p:spPr>
          <a:xfrm>
            <a:off x="1051560" y="2743200"/>
            <a:ext cx="3291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 customers, 21 variables — what the data contains</a:t>
            </a:r>
            <a:endParaRPr lang="en-US" sz="1100" dirty="0"/>
          </a:p>
        </p:txBody>
      </p:sp>
      <p:sp>
        <p:nvSpPr>
          <p:cNvPr id="1048594" name="Shape 9"/>
          <p:cNvSpPr/>
          <p:nvPr/>
        </p:nvSpPr>
        <p:spPr>
          <a:xfrm>
            <a:off x="365760" y="3529584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D0EC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595" name="Text 10"/>
          <p:cNvSpPr/>
          <p:nvPr/>
        </p:nvSpPr>
        <p:spPr>
          <a:xfrm>
            <a:off x="502920" y="363931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048596" name="Text 11"/>
          <p:cNvSpPr/>
          <p:nvPr/>
        </p:nvSpPr>
        <p:spPr>
          <a:xfrm>
            <a:off x="1051560" y="3602736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048597" name="Text 12"/>
          <p:cNvSpPr/>
          <p:nvPr/>
        </p:nvSpPr>
        <p:spPr>
          <a:xfrm>
            <a:off x="1051560" y="4005072"/>
            <a:ext cx="3291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main drivers of churn identified through analysis</a:t>
            </a:r>
            <a:endParaRPr lang="en-US" sz="1100" dirty="0"/>
          </a:p>
        </p:txBody>
      </p:sp>
      <p:sp>
        <p:nvSpPr>
          <p:cNvPr id="1048598" name="Shape 13"/>
          <p:cNvSpPr/>
          <p:nvPr/>
        </p:nvSpPr>
        <p:spPr>
          <a:xfrm>
            <a:off x="4846320" y="10058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D0EC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599" name="Text 14"/>
          <p:cNvSpPr/>
          <p:nvPr/>
        </p:nvSpPr>
        <p:spPr>
          <a:xfrm>
            <a:off x="4983480" y="1115568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048600" name="Text 15"/>
          <p:cNvSpPr/>
          <p:nvPr/>
        </p:nvSpPr>
        <p:spPr>
          <a:xfrm>
            <a:off x="5532120" y="107899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1048601" name="Text 16"/>
          <p:cNvSpPr/>
          <p:nvPr/>
        </p:nvSpPr>
        <p:spPr>
          <a:xfrm>
            <a:off x="5532120" y="1481328"/>
            <a:ext cx="3291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mean for the business</a:t>
            </a:r>
            <a:endParaRPr lang="en-US" sz="1100" dirty="0"/>
          </a:p>
        </p:txBody>
      </p:sp>
      <p:sp>
        <p:nvSpPr>
          <p:cNvPr id="1048602" name="Shape 17"/>
          <p:cNvSpPr/>
          <p:nvPr/>
        </p:nvSpPr>
        <p:spPr>
          <a:xfrm>
            <a:off x="4892040" y="2340864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D0EC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03" name="Text 18"/>
          <p:cNvSpPr/>
          <p:nvPr/>
        </p:nvSpPr>
        <p:spPr>
          <a:xfrm>
            <a:off x="4983480" y="23774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048604" name="Text 19"/>
          <p:cNvSpPr/>
          <p:nvPr/>
        </p:nvSpPr>
        <p:spPr>
          <a:xfrm>
            <a:off x="5532120" y="234086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048605" name="Text 20"/>
          <p:cNvSpPr/>
          <p:nvPr/>
        </p:nvSpPr>
        <p:spPr>
          <a:xfrm>
            <a:off x="5532120" y="2743200"/>
            <a:ext cx="3291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data-backed actions to reduce churn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1B7F79">
              <a:alpha val="20000"/>
            </a:srgbClr>
          </a:solidFill>
          <a:ln w="12700">
            <a:solidFill>
              <a:srgbClr val="1B7F79">
                <a:alpha val="20000"/>
              </a:srgbClr>
            </a:solidFill>
            <a:prstDash val="solid"/>
          </a:ln>
        </p:spPr>
      </p:sp>
      <p:sp>
        <p:nvSpPr>
          <p:cNvPr id="1048610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1048611" name="Shape 2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B7F79">
              <a:alpha val="80000"/>
            </a:srgbClr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612" name="Text 3"/>
          <p:cNvSpPr/>
          <p:nvPr/>
        </p:nvSpPr>
        <p:spPr>
          <a:xfrm>
            <a:off x="594360" y="1097280"/>
            <a:ext cx="78638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telecommunications company is losing over 1 in 4 customers — and doesn't know why.</a:t>
            </a:r>
            <a:endParaRPr lang="en-US" sz="1600" dirty="0"/>
          </a:p>
        </p:txBody>
      </p:sp>
      <p:sp>
        <p:nvSpPr>
          <p:cNvPr id="1048613" name="Shape 4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614" name="Text 5"/>
          <p:cNvSpPr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048615" name="Text 6"/>
          <p:cNvSpPr/>
          <p:nvPr/>
        </p:nvSpPr>
        <p:spPr>
          <a:xfrm>
            <a:off x="1097280" y="221284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customers leaving?</a:t>
            </a:r>
            <a:endParaRPr lang="en-US" sz="1400" dirty="0"/>
          </a:p>
        </p:txBody>
      </p:sp>
      <p:sp>
        <p:nvSpPr>
          <p:cNvPr id="1048616" name="Text 7"/>
          <p:cNvSpPr/>
          <p:nvPr/>
        </p:nvSpPr>
        <p:spPr>
          <a:xfrm>
            <a:off x="1097280" y="246888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driving dissatisfaction?</a:t>
            </a:r>
            <a:endParaRPr lang="en-US" sz="1200" dirty="0"/>
          </a:p>
        </p:txBody>
      </p:sp>
      <p:sp>
        <p:nvSpPr>
          <p:cNvPr id="1048617" name="Shape 8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618" name="Text 9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048619" name="Text 10"/>
          <p:cNvSpPr/>
          <p:nvPr/>
        </p:nvSpPr>
        <p:spPr>
          <a:xfrm>
            <a:off x="1097280" y="308152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customers are at risk?</a:t>
            </a:r>
            <a:endParaRPr lang="en-US" sz="1400" dirty="0"/>
          </a:p>
        </p:txBody>
      </p:sp>
      <p:sp>
        <p:nvSpPr>
          <p:cNvPr id="1048620" name="Text 11"/>
          <p:cNvSpPr/>
          <p:nvPr/>
        </p:nvSpPr>
        <p:spPr>
          <a:xfrm>
            <a:off x="1097280" y="333756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most likely to churn next?</a:t>
            </a:r>
            <a:endParaRPr lang="en-US" sz="1200" dirty="0"/>
          </a:p>
        </p:txBody>
      </p:sp>
      <p:sp>
        <p:nvSpPr>
          <p:cNvPr id="1048621" name="Shape 12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622" name="Text 13"/>
          <p:cNvSpPr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048623" name="Text 14"/>
          <p:cNvSpPr/>
          <p:nvPr/>
        </p:nvSpPr>
        <p:spPr>
          <a:xfrm>
            <a:off x="1097280" y="395020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we do?</a:t>
            </a:r>
            <a:endParaRPr lang="en-US" sz="1400" dirty="0"/>
          </a:p>
        </p:txBody>
      </p:sp>
      <p:sp>
        <p:nvSpPr>
          <p:cNvPr id="1048624" name="Text 15"/>
          <p:cNvSpPr/>
          <p:nvPr/>
        </p:nvSpPr>
        <p:spPr>
          <a:xfrm>
            <a:off x="1097280" y="420624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interventions will reduce churn?</a:t>
            </a:r>
            <a:endParaRPr lang="en-US" sz="1200" dirty="0"/>
          </a:p>
        </p:txBody>
      </p:sp>
      <p:sp>
        <p:nvSpPr>
          <p:cNvPr id="1048625" name="Text 16"/>
          <p:cNvSpPr/>
          <p:nvPr/>
        </p:nvSpPr>
        <p:spPr>
          <a:xfrm>
            <a:off x="4846320" y="2286000"/>
            <a:ext cx="3840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a customer costs 5–7x more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retaining one.</a:t>
            </a:r>
            <a:endParaRPr lang="en-US" sz="2000" dirty="0"/>
          </a:p>
        </p:txBody>
      </p:sp>
      <p:sp>
        <p:nvSpPr>
          <p:cNvPr id="1048626" name="Text 17"/>
          <p:cNvSpPr/>
          <p:nvPr/>
        </p:nvSpPr>
        <p:spPr>
          <a:xfrm>
            <a:off x="5029200" y="35661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= direct revenue loss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ext 0"/>
          <p:cNvSpPr/>
          <p:nvPr/>
        </p:nvSpPr>
        <p:spPr>
          <a:xfrm>
            <a:off x="420624" y="-86521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1048631" name="Shape 1"/>
          <p:cNvSpPr/>
          <p:nvPr/>
        </p:nvSpPr>
        <p:spPr>
          <a:xfrm>
            <a:off x="341376" y="534924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32" name="Text 2"/>
          <p:cNvSpPr/>
          <p:nvPr/>
        </p:nvSpPr>
        <p:spPr>
          <a:xfrm>
            <a:off x="341376" y="59893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800" dirty="0"/>
          </a:p>
        </p:txBody>
      </p:sp>
      <p:sp>
        <p:nvSpPr>
          <p:cNvPr id="1048633" name="Text 3"/>
          <p:cNvSpPr/>
          <p:nvPr/>
        </p:nvSpPr>
        <p:spPr>
          <a:xfrm>
            <a:off x="341376" y="123901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048634" name="Shape 4"/>
          <p:cNvSpPr/>
          <p:nvPr/>
        </p:nvSpPr>
        <p:spPr>
          <a:xfrm>
            <a:off x="2462784" y="534924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35" name="Text 5"/>
          <p:cNvSpPr/>
          <p:nvPr/>
        </p:nvSpPr>
        <p:spPr>
          <a:xfrm>
            <a:off x="2462784" y="59893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800" dirty="0"/>
          </a:p>
        </p:txBody>
      </p:sp>
      <p:sp>
        <p:nvSpPr>
          <p:cNvPr id="1048636" name="Text 6"/>
          <p:cNvSpPr/>
          <p:nvPr/>
        </p:nvSpPr>
        <p:spPr>
          <a:xfrm>
            <a:off x="2462784" y="123901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Analyzed</a:t>
            </a:r>
            <a:endParaRPr lang="en-US" sz="1100" dirty="0"/>
          </a:p>
        </p:txBody>
      </p:sp>
      <p:sp>
        <p:nvSpPr>
          <p:cNvPr id="1048637" name="Shape 7"/>
          <p:cNvSpPr/>
          <p:nvPr/>
        </p:nvSpPr>
        <p:spPr>
          <a:xfrm>
            <a:off x="4584192" y="534924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38" name="Text 8"/>
          <p:cNvSpPr/>
          <p:nvPr/>
        </p:nvSpPr>
        <p:spPr>
          <a:xfrm>
            <a:off x="4584192" y="59893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800" dirty="0"/>
          </a:p>
        </p:txBody>
      </p:sp>
      <p:sp>
        <p:nvSpPr>
          <p:cNvPr id="1048639" name="Text 9"/>
          <p:cNvSpPr/>
          <p:nvPr/>
        </p:nvSpPr>
        <p:spPr>
          <a:xfrm>
            <a:off x="4584192" y="123901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Churn Rate</a:t>
            </a:r>
            <a:endParaRPr lang="en-US" sz="1100" dirty="0"/>
          </a:p>
        </p:txBody>
      </p:sp>
      <p:sp>
        <p:nvSpPr>
          <p:cNvPr id="1048640" name="Shape 10"/>
          <p:cNvSpPr/>
          <p:nvPr/>
        </p:nvSpPr>
        <p:spPr>
          <a:xfrm>
            <a:off x="6705600" y="534924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41" name="Text 11"/>
          <p:cNvSpPr/>
          <p:nvPr/>
        </p:nvSpPr>
        <p:spPr>
          <a:xfrm>
            <a:off x="6705600" y="59893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2800" dirty="0"/>
          </a:p>
        </p:txBody>
      </p:sp>
      <p:sp>
        <p:nvSpPr>
          <p:cNvPr id="1048642" name="Text 12"/>
          <p:cNvSpPr/>
          <p:nvPr/>
        </p:nvSpPr>
        <p:spPr>
          <a:xfrm>
            <a:off x="6705600" y="123901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Churned</a:t>
            </a:r>
            <a:endParaRPr lang="en-US" sz="1100" dirty="0"/>
          </a:p>
        </p:txBody>
      </p:sp>
      <p:sp>
        <p:nvSpPr>
          <p:cNvPr id="1048643" name="Text 13"/>
          <p:cNvSpPr/>
          <p:nvPr/>
        </p:nvSpPr>
        <p:spPr>
          <a:xfrm>
            <a:off x="341376" y="1725306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Categories</a:t>
            </a:r>
            <a:endParaRPr lang="en-US" sz="1400" dirty="0"/>
          </a:p>
        </p:txBody>
      </p:sp>
      <p:sp>
        <p:nvSpPr>
          <p:cNvPr id="1048644" name="Shape 14"/>
          <p:cNvSpPr/>
          <p:nvPr/>
        </p:nvSpPr>
        <p:spPr>
          <a:xfrm>
            <a:off x="265176" y="2088711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EC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45" name="Shape 15"/>
          <p:cNvSpPr/>
          <p:nvPr/>
        </p:nvSpPr>
        <p:spPr>
          <a:xfrm>
            <a:off x="265176" y="2079567"/>
            <a:ext cx="192024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646" name="Text 16"/>
          <p:cNvSpPr/>
          <p:nvPr/>
        </p:nvSpPr>
        <p:spPr>
          <a:xfrm>
            <a:off x="265176" y="2088711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1048647" name="Text 17"/>
          <p:cNvSpPr/>
          <p:nvPr/>
        </p:nvSpPr>
        <p:spPr>
          <a:xfrm>
            <a:off x="356616" y="2472759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Senior Citizen,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Partner, Dependents</a:t>
            </a:r>
            <a:endParaRPr lang="en-US" sz="1100" dirty="0"/>
          </a:p>
        </p:txBody>
      </p:sp>
      <p:sp>
        <p:nvSpPr>
          <p:cNvPr id="1048648" name="Shape 18"/>
          <p:cNvSpPr/>
          <p:nvPr/>
        </p:nvSpPr>
        <p:spPr>
          <a:xfrm>
            <a:off x="2386584" y="2079567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EC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49" name="Shape 19"/>
          <p:cNvSpPr/>
          <p:nvPr/>
        </p:nvSpPr>
        <p:spPr>
          <a:xfrm>
            <a:off x="2386584" y="2079567"/>
            <a:ext cx="192024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650" name="Text 20"/>
          <p:cNvSpPr/>
          <p:nvPr/>
        </p:nvSpPr>
        <p:spPr>
          <a:xfrm>
            <a:off x="2386584" y="2088711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048651" name="Text 21"/>
          <p:cNvSpPr/>
          <p:nvPr/>
        </p:nvSpPr>
        <p:spPr>
          <a:xfrm>
            <a:off x="2478024" y="2472759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Internet, Phone, Streaming,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Tech Support</a:t>
            </a:r>
            <a:endParaRPr lang="en-US" sz="1100" dirty="0"/>
          </a:p>
        </p:txBody>
      </p:sp>
      <p:sp>
        <p:nvSpPr>
          <p:cNvPr id="1048652" name="Shape 22"/>
          <p:cNvSpPr/>
          <p:nvPr/>
        </p:nvSpPr>
        <p:spPr>
          <a:xfrm>
            <a:off x="4507992" y="2079567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EC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53" name="Shape 23"/>
          <p:cNvSpPr/>
          <p:nvPr/>
        </p:nvSpPr>
        <p:spPr>
          <a:xfrm>
            <a:off x="4507992" y="2079567"/>
            <a:ext cx="192024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654" name="Text 24"/>
          <p:cNvSpPr/>
          <p:nvPr/>
        </p:nvSpPr>
        <p:spPr>
          <a:xfrm>
            <a:off x="4507992" y="2088711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1200" dirty="0"/>
          </a:p>
        </p:txBody>
      </p:sp>
      <p:sp>
        <p:nvSpPr>
          <p:cNvPr id="1048655" name="Text 25"/>
          <p:cNvSpPr/>
          <p:nvPr/>
        </p:nvSpPr>
        <p:spPr>
          <a:xfrm>
            <a:off x="4599432" y="2472759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Contract, Payment Method,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Tenure, Billing</a:t>
            </a:r>
            <a:endParaRPr lang="en-US" sz="1100" dirty="0"/>
          </a:p>
        </p:txBody>
      </p:sp>
      <p:sp>
        <p:nvSpPr>
          <p:cNvPr id="1048656" name="Shape 26"/>
          <p:cNvSpPr/>
          <p:nvPr/>
        </p:nvSpPr>
        <p:spPr>
          <a:xfrm>
            <a:off x="265176" y="3647625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EC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57" name="Shape 27"/>
          <p:cNvSpPr/>
          <p:nvPr/>
        </p:nvSpPr>
        <p:spPr>
          <a:xfrm>
            <a:off x="265176" y="3647625"/>
            <a:ext cx="1920240" cy="34747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658" name="Text 28"/>
          <p:cNvSpPr/>
          <p:nvPr/>
        </p:nvSpPr>
        <p:spPr>
          <a:xfrm>
            <a:off x="265176" y="3656769"/>
            <a:ext cx="1920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1048659" name="Text 29"/>
          <p:cNvSpPr/>
          <p:nvPr/>
        </p:nvSpPr>
        <p:spPr>
          <a:xfrm>
            <a:off x="356616" y="4040817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Charges,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Charges</a:t>
            </a:r>
            <a:endParaRPr lang="en-US" sz="1100" dirty="0"/>
          </a:p>
        </p:txBody>
      </p:sp>
      <p:graphicFrame>
        <p:nvGraphicFramePr>
          <p:cNvPr id="4194304" name="Char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3362009"/>
              </p:ext>
            </p:extLst>
          </p:nvPr>
        </p:nvGraphicFramePr>
        <p:xfrm>
          <a:off x="6519671" y="1906798"/>
          <a:ext cx="2575838" cy="3236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1048664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factors drive the majority of churn</a:t>
            </a:r>
            <a:endParaRPr lang="en-US" sz="1400" dirty="0"/>
          </a:p>
        </p:txBody>
      </p:sp>
      <p:sp>
        <p:nvSpPr>
          <p:cNvPr id="1048665" name="Shape 2"/>
          <p:cNvSpPr/>
          <p:nvPr/>
        </p:nvSpPr>
        <p:spPr>
          <a:xfrm>
            <a:off x="365760" y="118872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66" name="Shape 3"/>
          <p:cNvSpPr/>
          <p:nvPr/>
        </p:nvSpPr>
        <p:spPr>
          <a:xfrm>
            <a:off x="548640" y="1353312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48667" name="Text 4"/>
          <p:cNvSpPr/>
          <p:nvPr/>
        </p:nvSpPr>
        <p:spPr>
          <a:xfrm>
            <a:off x="548640" y="13533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300" dirty="0"/>
          </a:p>
        </p:txBody>
      </p:sp>
      <p:sp>
        <p:nvSpPr>
          <p:cNvPr id="1048668" name="Text 5"/>
          <p:cNvSpPr/>
          <p:nvPr/>
        </p:nvSpPr>
        <p:spPr>
          <a:xfrm>
            <a:off x="1234440" y="1371600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</a:t>
            </a:r>
            <a:endParaRPr lang="en-US" sz="1500" dirty="0"/>
          </a:p>
        </p:txBody>
      </p:sp>
      <p:sp>
        <p:nvSpPr>
          <p:cNvPr id="1048669" name="Text 6"/>
          <p:cNvSpPr/>
          <p:nvPr/>
        </p:nvSpPr>
        <p:spPr>
          <a:xfrm>
            <a:off x="548640" y="2011680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Month-to-month: 42.7%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year: 11.3%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year: 2.8%</a:t>
            </a:r>
            <a:endParaRPr lang="en-US" sz="1200" dirty="0"/>
          </a:p>
        </p:txBody>
      </p:sp>
      <p:sp>
        <p:nvSpPr>
          <p:cNvPr id="1048670" name="Shape 7"/>
          <p:cNvSpPr/>
          <p:nvPr/>
        </p:nvSpPr>
        <p:spPr>
          <a:xfrm>
            <a:off x="4709160" y="118872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71" name="Shape 8"/>
          <p:cNvSpPr/>
          <p:nvPr/>
        </p:nvSpPr>
        <p:spPr>
          <a:xfrm>
            <a:off x="4892040" y="1353312"/>
            <a:ext cx="566928" cy="5669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48672" name="Text 9"/>
          <p:cNvSpPr/>
          <p:nvPr/>
        </p:nvSpPr>
        <p:spPr>
          <a:xfrm>
            <a:off x="4892040" y="13533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300" dirty="0"/>
          </a:p>
        </p:txBody>
      </p:sp>
      <p:sp>
        <p:nvSpPr>
          <p:cNvPr id="1048673" name="Text 10"/>
          <p:cNvSpPr/>
          <p:nvPr/>
        </p:nvSpPr>
        <p:spPr>
          <a:xfrm>
            <a:off x="5577840" y="1371600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Tenure</a:t>
            </a:r>
            <a:endParaRPr lang="en-US" sz="1500" dirty="0"/>
          </a:p>
        </p:txBody>
      </p:sp>
      <p:sp>
        <p:nvSpPr>
          <p:cNvPr id="1048674" name="Text 11"/>
          <p:cNvSpPr/>
          <p:nvPr/>
        </p:nvSpPr>
        <p:spPr>
          <a:xfrm>
            <a:off x="4892040" y="2011680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0-12 months: highest churn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49-72 months: only 9.5%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months are critical</a:t>
            </a:r>
            <a:endParaRPr lang="en-US" sz="1200" dirty="0"/>
          </a:p>
        </p:txBody>
      </p:sp>
      <p:sp>
        <p:nvSpPr>
          <p:cNvPr id="1048675" name="Shape 12"/>
          <p:cNvSpPr/>
          <p:nvPr/>
        </p:nvSpPr>
        <p:spPr>
          <a:xfrm>
            <a:off x="365760" y="31089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76" name="Shape 13"/>
          <p:cNvSpPr/>
          <p:nvPr/>
        </p:nvSpPr>
        <p:spPr>
          <a:xfrm>
            <a:off x="548640" y="3273552"/>
            <a:ext cx="566928" cy="56692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677" name="Text 14"/>
          <p:cNvSpPr/>
          <p:nvPr/>
        </p:nvSpPr>
        <p:spPr>
          <a:xfrm>
            <a:off x="548640" y="32735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300" dirty="0"/>
          </a:p>
        </p:txBody>
      </p:sp>
      <p:sp>
        <p:nvSpPr>
          <p:cNvPr id="1048678" name="Text 15"/>
          <p:cNvSpPr/>
          <p:nvPr/>
        </p:nvSpPr>
        <p:spPr>
          <a:xfrm>
            <a:off x="1234440" y="3291840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Service</a:t>
            </a:r>
            <a:endParaRPr lang="en-US" sz="1500" dirty="0"/>
          </a:p>
        </p:txBody>
      </p:sp>
      <p:sp>
        <p:nvSpPr>
          <p:cNvPr id="1048679" name="Text 16"/>
          <p:cNvSpPr/>
          <p:nvPr/>
        </p:nvSpPr>
        <p:spPr>
          <a:xfrm>
            <a:off x="548640" y="3931920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optic: 41.9%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DSL: 19.0%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internet: 7.4%</a:t>
            </a:r>
            <a:endParaRPr lang="en-US" sz="1200" dirty="0"/>
          </a:p>
        </p:txBody>
      </p:sp>
      <p:sp>
        <p:nvSpPr>
          <p:cNvPr id="1048680" name="Shape 17"/>
          <p:cNvSpPr/>
          <p:nvPr/>
        </p:nvSpPr>
        <p:spPr>
          <a:xfrm>
            <a:off x="4709160" y="3108960"/>
            <a:ext cx="4069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81" name="Shape 18"/>
          <p:cNvSpPr/>
          <p:nvPr/>
        </p:nvSpPr>
        <p:spPr>
          <a:xfrm>
            <a:off x="4892040" y="3273552"/>
            <a:ext cx="566928" cy="5669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48682" name="Text 19"/>
          <p:cNvSpPr/>
          <p:nvPr/>
        </p:nvSpPr>
        <p:spPr>
          <a:xfrm>
            <a:off x="4892040" y="32735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300" dirty="0"/>
          </a:p>
        </p:txBody>
      </p:sp>
      <p:sp>
        <p:nvSpPr>
          <p:cNvPr id="1048683" name="Text 20"/>
          <p:cNvSpPr/>
          <p:nvPr/>
        </p:nvSpPr>
        <p:spPr>
          <a:xfrm>
            <a:off x="5577840" y="3291840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1500" dirty="0"/>
          </a:p>
        </p:txBody>
      </p:sp>
      <p:sp>
        <p:nvSpPr>
          <p:cNvPr id="1048684" name="Text 21"/>
          <p:cNvSpPr/>
          <p:nvPr/>
        </p:nvSpPr>
        <p:spPr>
          <a:xfrm>
            <a:off x="4892040" y="3931920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check: 45.3%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Auto-pay methods: ~15-17%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= disengagement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ext 0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Rates by Contract &amp; Tenure</a:t>
            </a:r>
            <a:endParaRPr lang="en-US" sz="2600" dirty="0"/>
          </a:p>
        </p:txBody>
      </p:sp>
      <p:graphicFrame>
        <p:nvGraphicFramePr>
          <p:cNvPr id="4194305" name="Chart 0"/>
          <p:cNvGraphicFramePr>
            <a:graphicFrameLocks/>
          </p:cNvGraphicFramePr>
          <p:nvPr/>
        </p:nvGraphicFramePr>
        <p:xfrm>
          <a:off x="274320" y="822960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4306" name="Chart 1"/>
          <p:cNvGraphicFramePr>
            <a:graphicFrameLocks/>
          </p:cNvGraphicFramePr>
          <p:nvPr/>
        </p:nvGraphicFramePr>
        <p:xfrm>
          <a:off x="4754880" y="822960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ext 0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Service &amp; Payment Method</a:t>
            </a:r>
            <a:endParaRPr lang="en-US" sz="2600" dirty="0"/>
          </a:p>
        </p:txBody>
      </p:sp>
      <p:graphicFrame>
        <p:nvGraphicFramePr>
          <p:cNvPr id="4194307" name="Chart 0"/>
          <p:cNvGraphicFramePr>
            <a:graphicFrameLocks/>
          </p:cNvGraphicFramePr>
          <p:nvPr/>
        </p:nvGraphicFramePr>
        <p:xfrm>
          <a:off x="274320" y="822960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4308" name="Chart 1"/>
          <p:cNvGraphicFramePr>
            <a:graphicFrameLocks/>
          </p:cNvGraphicFramePr>
          <p:nvPr/>
        </p:nvGraphicFramePr>
        <p:xfrm>
          <a:off x="4754880" y="822960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1048697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data-backed actions to reduce churn</a:t>
            </a:r>
            <a:endParaRPr lang="en-US" sz="1400" dirty="0"/>
          </a:p>
        </p:txBody>
      </p:sp>
      <p:sp>
        <p:nvSpPr>
          <p:cNvPr id="1048698" name="Shape 2"/>
          <p:cNvSpPr/>
          <p:nvPr/>
        </p:nvSpPr>
        <p:spPr>
          <a:xfrm>
            <a:off x="365760" y="1097280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99" name="Shape 3"/>
          <p:cNvSpPr/>
          <p:nvPr/>
        </p:nvSpPr>
        <p:spPr>
          <a:xfrm>
            <a:off x="530352" y="1225296"/>
            <a:ext cx="475488" cy="47548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700" name="Text 4"/>
          <p:cNvSpPr/>
          <p:nvPr/>
        </p:nvSpPr>
        <p:spPr>
          <a:xfrm>
            <a:off x="530352" y="12252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48701" name="Text 5"/>
          <p:cNvSpPr/>
          <p:nvPr/>
        </p:nvSpPr>
        <p:spPr>
          <a:xfrm>
            <a:off x="1115568" y="118872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Incentivize Long-Term Contracts</a:t>
            </a:r>
            <a:endParaRPr lang="en-US" sz="1300" dirty="0"/>
          </a:p>
        </p:txBody>
      </p:sp>
      <p:sp>
        <p:nvSpPr>
          <p:cNvPr id="1048702" name="Text 6"/>
          <p:cNvSpPr/>
          <p:nvPr/>
        </p:nvSpPr>
        <p:spPr>
          <a:xfrm>
            <a:off x="1115568" y="1572768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discounts &amp; perks for annual/two-year upgrades</a:t>
            </a:r>
            <a:endParaRPr lang="en-US" sz="1100" dirty="0"/>
          </a:p>
        </p:txBody>
      </p:sp>
      <p:sp>
        <p:nvSpPr>
          <p:cNvPr id="1048703" name="Shape 7"/>
          <p:cNvSpPr/>
          <p:nvPr/>
        </p:nvSpPr>
        <p:spPr>
          <a:xfrm>
            <a:off x="4709160" y="1097280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04" name="Shape 8"/>
          <p:cNvSpPr/>
          <p:nvPr/>
        </p:nvSpPr>
        <p:spPr>
          <a:xfrm>
            <a:off x="4873752" y="1225296"/>
            <a:ext cx="475488" cy="47548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705" name="Text 9"/>
          <p:cNvSpPr/>
          <p:nvPr/>
        </p:nvSpPr>
        <p:spPr>
          <a:xfrm>
            <a:off x="4873752" y="12252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48706" name="Text 10"/>
          <p:cNvSpPr/>
          <p:nvPr/>
        </p:nvSpPr>
        <p:spPr>
          <a:xfrm>
            <a:off x="5458968" y="118872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Retention Program</a:t>
            </a:r>
            <a:endParaRPr lang="en-US" sz="1300" dirty="0"/>
          </a:p>
        </p:txBody>
      </p:sp>
      <p:sp>
        <p:nvSpPr>
          <p:cNvPr id="1048707" name="Text 11"/>
          <p:cNvSpPr/>
          <p:nvPr/>
        </p:nvSpPr>
        <p:spPr>
          <a:xfrm>
            <a:off x="5458968" y="1572768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onboarding &amp; check-ins in months 1–6</a:t>
            </a:r>
            <a:endParaRPr lang="en-US" sz="1100" dirty="0"/>
          </a:p>
        </p:txBody>
      </p:sp>
      <p:sp>
        <p:nvSpPr>
          <p:cNvPr id="1048708" name="Shape 12"/>
          <p:cNvSpPr/>
          <p:nvPr/>
        </p:nvSpPr>
        <p:spPr>
          <a:xfrm>
            <a:off x="365760" y="2395728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09" name="Shape 13"/>
          <p:cNvSpPr/>
          <p:nvPr/>
        </p:nvSpPr>
        <p:spPr>
          <a:xfrm>
            <a:off x="530352" y="2523744"/>
            <a:ext cx="475488" cy="47548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710" name="Text 14"/>
          <p:cNvSpPr/>
          <p:nvPr/>
        </p:nvSpPr>
        <p:spPr>
          <a:xfrm>
            <a:off x="530352" y="25237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048711" name="Text 15"/>
          <p:cNvSpPr/>
          <p:nvPr/>
        </p:nvSpPr>
        <p:spPr>
          <a:xfrm>
            <a:off x="1115568" y="2487168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Fiber Optic Experience</a:t>
            </a:r>
            <a:endParaRPr lang="en-US" sz="1300" dirty="0"/>
          </a:p>
        </p:txBody>
      </p:sp>
      <p:sp>
        <p:nvSpPr>
          <p:cNvPr id="1048712" name="Text 16"/>
          <p:cNvSpPr/>
          <p:nvPr/>
        </p:nvSpPr>
        <p:spPr>
          <a:xfrm>
            <a:off x="1115568" y="2871216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fiber users; review pricing &amp; service quality</a:t>
            </a:r>
            <a:endParaRPr lang="en-US" sz="1100" dirty="0"/>
          </a:p>
        </p:txBody>
      </p:sp>
      <p:sp>
        <p:nvSpPr>
          <p:cNvPr id="1048713" name="Shape 17"/>
          <p:cNvSpPr/>
          <p:nvPr/>
        </p:nvSpPr>
        <p:spPr>
          <a:xfrm>
            <a:off x="4709160" y="2395728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14" name="Shape 18"/>
          <p:cNvSpPr/>
          <p:nvPr/>
        </p:nvSpPr>
        <p:spPr>
          <a:xfrm>
            <a:off x="4873752" y="2523744"/>
            <a:ext cx="475488" cy="47548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715" name="Text 19"/>
          <p:cNvSpPr/>
          <p:nvPr/>
        </p:nvSpPr>
        <p:spPr>
          <a:xfrm>
            <a:off x="4873752" y="25237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048716" name="Text 20"/>
          <p:cNvSpPr/>
          <p:nvPr/>
        </p:nvSpPr>
        <p:spPr>
          <a:xfrm>
            <a:off x="5458968" y="2487168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Security Add-Ons</a:t>
            </a:r>
            <a:endParaRPr lang="en-US" sz="1300" dirty="0"/>
          </a:p>
        </p:txBody>
      </p:sp>
      <p:sp>
        <p:nvSpPr>
          <p:cNvPr id="1048717" name="Text 21"/>
          <p:cNvSpPr/>
          <p:nvPr/>
        </p:nvSpPr>
        <p:spPr>
          <a:xfrm>
            <a:off x="5458968" y="2871216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OnlineSecurity &amp; TechSupport in base plans</a:t>
            </a:r>
            <a:endParaRPr lang="en-US" sz="1100" dirty="0"/>
          </a:p>
        </p:txBody>
      </p:sp>
      <p:sp>
        <p:nvSpPr>
          <p:cNvPr id="1048718" name="Shape 22"/>
          <p:cNvSpPr/>
          <p:nvPr/>
        </p:nvSpPr>
        <p:spPr>
          <a:xfrm>
            <a:off x="365760" y="3694176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19" name="Shape 23"/>
          <p:cNvSpPr/>
          <p:nvPr/>
        </p:nvSpPr>
        <p:spPr>
          <a:xfrm>
            <a:off x="530352" y="3822192"/>
            <a:ext cx="475488" cy="47548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720" name="Text 24"/>
          <p:cNvSpPr/>
          <p:nvPr/>
        </p:nvSpPr>
        <p:spPr>
          <a:xfrm>
            <a:off x="530352" y="38221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048721" name="Text 25"/>
          <p:cNvSpPr/>
          <p:nvPr/>
        </p:nvSpPr>
        <p:spPr>
          <a:xfrm>
            <a:off x="1115568" y="3785616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Auto-Pay</a:t>
            </a:r>
            <a:endParaRPr lang="en-US" sz="1300" dirty="0"/>
          </a:p>
        </p:txBody>
      </p:sp>
      <p:sp>
        <p:nvSpPr>
          <p:cNvPr id="1048722" name="Text 26"/>
          <p:cNvSpPr/>
          <p:nvPr/>
        </p:nvSpPr>
        <p:spPr>
          <a:xfrm>
            <a:off x="1115568" y="4169664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$2–3 discount to switch from electronic check</a:t>
            </a:r>
            <a:endParaRPr lang="en-US" sz="1100" dirty="0"/>
          </a:p>
        </p:txBody>
      </p:sp>
      <p:sp>
        <p:nvSpPr>
          <p:cNvPr id="1048723" name="Shape 27"/>
          <p:cNvSpPr/>
          <p:nvPr/>
        </p:nvSpPr>
        <p:spPr>
          <a:xfrm>
            <a:off x="4709160" y="3694176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24" name="Shape 28"/>
          <p:cNvSpPr/>
          <p:nvPr/>
        </p:nvSpPr>
        <p:spPr>
          <a:xfrm>
            <a:off x="4873752" y="3822192"/>
            <a:ext cx="475488" cy="475488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048725" name="Text 29"/>
          <p:cNvSpPr/>
          <p:nvPr/>
        </p:nvSpPr>
        <p:spPr>
          <a:xfrm>
            <a:off x="4873752" y="38221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048726" name="Text 30"/>
          <p:cNvSpPr/>
          <p:nvPr/>
        </p:nvSpPr>
        <p:spPr>
          <a:xfrm>
            <a:off x="5458968" y="3785616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Citizen Strategy</a:t>
            </a:r>
            <a:endParaRPr lang="en-US" sz="1300" dirty="0"/>
          </a:p>
        </p:txBody>
      </p:sp>
      <p:sp>
        <p:nvSpPr>
          <p:cNvPr id="1048727" name="Text 31"/>
          <p:cNvSpPr/>
          <p:nvPr/>
        </p:nvSpPr>
        <p:spPr>
          <a:xfrm>
            <a:off x="5458968" y="4169664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plans, dedicated support, price sensitivity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Shape 0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1B7F79">
              <a:alpha val="25000"/>
            </a:srgbClr>
          </a:solidFill>
          <a:ln w="12700">
            <a:solidFill>
              <a:srgbClr val="1B7F79">
                <a:alpha val="25000"/>
              </a:srgbClr>
            </a:solidFill>
            <a:prstDash val="solid"/>
          </a:ln>
        </p:spPr>
      </p:sp>
      <p:sp>
        <p:nvSpPr>
          <p:cNvPr id="1048732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1048733" name="Text 2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1048734" name="Shape 3"/>
          <p:cNvSpPr/>
          <p:nvPr/>
        </p:nvSpPr>
        <p:spPr>
          <a:xfrm>
            <a:off x="457200" y="10515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B7F79">
              <a:alpha val="20000"/>
            </a:srgbClr>
          </a:solidFill>
          <a:ln w="12700">
            <a:solidFill>
              <a:srgbClr val="1B7F79">
                <a:alpha val="50000"/>
              </a:srgbClr>
            </a:solidFill>
            <a:prstDash val="solid"/>
          </a:ln>
        </p:spPr>
      </p:sp>
      <p:sp>
        <p:nvSpPr>
          <p:cNvPr id="1048735" name="Text 4"/>
          <p:cNvSpPr/>
          <p:nvPr/>
        </p:nvSpPr>
        <p:spPr>
          <a:xfrm>
            <a:off x="594360" y="1115568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200" dirty="0"/>
          </a:p>
        </p:txBody>
      </p:sp>
      <p:sp>
        <p:nvSpPr>
          <p:cNvPr id="1048736" name="Text 5"/>
          <p:cNvSpPr/>
          <p:nvPr/>
        </p:nvSpPr>
        <p:spPr>
          <a:xfrm>
            <a:off x="2011680" y="1179576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— more than 1 in 4 customers is leaving</a:t>
            </a:r>
            <a:endParaRPr lang="en-US" sz="1400" dirty="0"/>
          </a:p>
        </p:txBody>
      </p:sp>
      <p:sp>
        <p:nvSpPr>
          <p:cNvPr id="1048737" name="Shape 6"/>
          <p:cNvSpPr/>
          <p:nvPr/>
        </p:nvSpPr>
        <p:spPr>
          <a:xfrm>
            <a:off x="457200" y="1947672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B7F79">
              <a:alpha val="20000"/>
            </a:srgbClr>
          </a:solidFill>
          <a:ln w="12700">
            <a:solidFill>
              <a:srgbClr val="1B7F79">
                <a:alpha val="50000"/>
              </a:srgbClr>
            </a:solidFill>
            <a:prstDash val="solid"/>
          </a:ln>
        </p:spPr>
      </p:sp>
      <p:sp>
        <p:nvSpPr>
          <p:cNvPr id="1048738" name="Text 7"/>
          <p:cNvSpPr/>
          <p:nvPr/>
        </p:nvSpPr>
        <p:spPr>
          <a:xfrm>
            <a:off x="594360" y="201168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</a:t>
            </a:r>
            <a:endParaRPr lang="en-US" sz="2200" dirty="0"/>
          </a:p>
        </p:txBody>
      </p:sp>
      <p:sp>
        <p:nvSpPr>
          <p:cNvPr id="1048739" name="Text 8"/>
          <p:cNvSpPr/>
          <p:nvPr/>
        </p:nvSpPr>
        <p:spPr>
          <a:xfrm>
            <a:off x="2011680" y="2075688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month-to-month customers churn — highest risk segment</a:t>
            </a:r>
            <a:endParaRPr lang="en-US" sz="1400" dirty="0"/>
          </a:p>
        </p:txBody>
      </p:sp>
      <p:sp>
        <p:nvSpPr>
          <p:cNvPr id="1048740" name="Shape 9"/>
          <p:cNvSpPr/>
          <p:nvPr/>
        </p:nvSpPr>
        <p:spPr>
          <a:xfrm>
            <a:off x="457200" y="284378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B7F79">
              <a:alpha val="20000"/>
            </a:srgbClr>
          </a:solidFill>
          <a:ln w="12700">
            <a:solidFill>
              <a:srgbClr val="1B7F79">
                <a:alpha val="50000"/>
              </a:srgbClr>
            </a:solidFill>
            <a:prstDash val="solid"/>
          </a:ln>
        </p:spPr>
      </p:sp>
      <p:sp>
        <p:nvSpPr>
          <p:cNvPr id="1048741" name="Text 10"/>
          <p:cNvSpPr/>
          <p:nvPr/>
        </p:nvSpPr>
        <p:spPr>
          <a:xfrm>
            <a:off x="594360" y="2907792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5–7x</a:t>
            </a:r>
            <a:endParaRPr lang="en-US" sz="2200" dirty="0"/>
          </a:p>
        </p:txBody>
      </p:sp>
      <p:sp>
        <p:nvSpPr>
          <p:cNvPr id="1048742" name="Text 11"/>
          <p:cNvSpPr/>
          <p:nvPr/>
        </p:nvSpPr>
        <p:spPr>
          <a:xfrm>
            <a:off x="2011680" y="2971800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expensive to acquire a customer than to retain one</a:t>
            </a:r>
            <a:endParaRPr lang="en-US" sz="1400" dirty="0"/>
          </a:p>
        </p:txBody>
      </p:sp>
      <p:sp>
        <p:nvSpPr>
          <p:cNvPr id="1048743" name="Shape 12"/>
          <p:cNvSpPr/>
          <p:nvPr/>
        </p:nvSpPr>
        <p:spPr>
          <a:xfrm>
            <a:off x="457200" y="373989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B7F79">
              <a:alpha val="20000"/>
            </a:srgbClr>
          </a:solidFill>
          <a:ln w="12700">
            <a:solidFill>
              <a:srgbClr val="1B7F79">
                <a:alpha val="50000"/>
              </a:srgbClr>
            </a:solidFill>
            <a:prstDash val="solid"/>
          </a:ln>
        </p:spPr>
      </p:sp>
      <p:sp>
        <p:nvSpPr>
          <p:cNvPr id="1048744" name="Text 13"/>
          <p:cNvSpPr/>
          <p:nvPr/>
        </p:nvSpPr>
        <p:spPr>
          <a:xfrm>
            <a:off x="594360" y="3803904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048745" name="Text 14"/>
          <p:cNvSpPr/>
          <p:nvPr/>
        </p:nvSpPr>
        <p:spPr>
          <a:xfrm>
            <a:off x="2011680" y="3867912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recommendations grounded in the data</a:t>
            </a:r>
            <a:endParaRPr lang="en-US" sz="1400" dirty="0"/>
          </a:p>
        </p:txBody>
      </p:sp>
      <p:sp>
        <p:nvSpPr>
          <p:cNvPr id="1048746" name="Text 15"/>
          <p:cNvSpPr/>
          <p:nvPr/>
        </p:nvSpPr>
        <p:spPr>
          <a:xfrm>
            <a:off x="548640" y="4617720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retention strategy can meaningfully protect revenue and improve customer lifetime value.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7F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1B2A">
              <a:alpha val="30000"/>
            </a:srgbClr>
          </a:solidFill>
          <a:ln w="12700">
            <a:solidFill>
              <a:srgbClr val="0D1B2A">
                <a:alpha val="30000"/>
              </a:srgbClr>
            </a:solidFill>
            <a:prstDash val="solid"/>
          </a:ln>
        </p:spPr>
      </p:sp>
      <p:sp>
        <p:nvSpPr>
          <p:cNvPr id="1048751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1B2A">
              <a:alpha val="25000"/>
            </a:srgbClr>
          </a:solidFill>
          <a:ln w="12700">
            <a:solidFill>
              <a:srgbClr val="0D1B2A">
                <a:alpha val="25000"/>
              </a:srgbClr>
            </a:solidFill>
            <a:prstDash val="solid"/>
          </a:ln>
        </p:spPr>
      </p:sp>
      <p:sp>
        <p:nvSpPr>
          <p:cNvPr id="1048752" name="Text 2"/>
          <p:cNvSpPr/>
          <p:nvPr/>
        </p:nvSpPr>
        <p:spPr>
          <a:xfrm>
            <a:off x="548640" y="10972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048753" name="Text 3"/>
          <p:cNvSpPr/>
          <p:nvPr/>
        </p:nvSpPr>
        <p:spPr>
          <a:xfrm>
            <a:off x="548640" y="25603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Ndubuisi Favour Adaku</a:t>
            </a:r>
            <a:endParaRPr lang="en-US" sz="1800" dirty="0"/>
          </a:p>
        </p:txBody>
      </p:sp>
      <p:sp>
        <p:nvSpPr>
          <p:cNvPr id="1048754" name="Text 4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AnalystLab Africa  |  Data Analytics Internship  |  Batch B  |  Week 5  |  June 2026</a:t>
            </a:r>
            <a:endParaRPr lang="en-US" sz="1200" dirty="0"/>
          </a:p>
        </p:txBody>
      </p:sp>
      <p:sp>
        <p:nvSpPr>
          <p:cNvPr id="1048755" name="Text 5"/>
          <p:cNvSpPr/>
          <p:nvPr/>
        </p:nvSpPr>
        <p:spPr>
          <a:xfrm>
            <a:off x="1371600" y="37490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Telco Customer Churn — Kaggle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D0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Python, Pandas, Matplotlib, Seaborn, Jupyter Notebook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880</Words>
  <Application>Microsoft Office PowerPoint</Application>
  <PresentationFormat>On-screen Show (16:9)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</dc:title>
  <dc:creator>PptxGenJS</dc:creator>
  <cp:lastModifiedBy>HP</cp:lastModifiedBy>
  <cp:revision>3</cp:revision>
  <dcterms:created xsi:type="dcterms:W3CDTF">2026-07-01T04:15:27Z</dcterms:created>
  <dcterms:modified xsi:type="dcterms:W3CDTF">2026-07-01T07:29:20Z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024452d0bdd742dbb2acee2735420041</vt:lpwstr>
  </property>
</Properties>
</file>